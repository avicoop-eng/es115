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74" r:id="rId12"/>
    <p:sldId id="263" r:id="rId13"/>
    <p:sldId id="269" r:id="rId14"/>
    <p:sldId id="270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466D-35A3-6D40-B58E-989227E8867C}" v="5" dt="2026-04-20T17:56:23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0"/>
    <p:restoredTop sz="94688"/>
  </p:normalViewPr>
  <p:slideViewPr>
    <p:cSldViewPr snapToGrid="0">
      <p:cViewPr varScale="1">
        <p:scale>
          <a:sx n="116" d="100"/>
          <a:sy n="116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71102-3E78-434E-9893-6BECE408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673492-8F7A-C747-BA04-F0E4EB4902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1693" y="3118523"/>
            <a:ext cx="8951384" cy="84031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3732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A2629F8-EB25-F646-826F-1CD746C84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694" y="803159"/>
            <a:ext cx="10768613" cy="2041641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331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UHart-Logo-Stacked-01.png">
            <a:extLst>
              <a:ext uri="{FF2B5EF4-FFF2-40B4-BE49-F238E27FC236}">
                <a16:creationId xmlns:a16="http://schemas.microsoft.com/office/drawing/2014/main" id="{CEA95669-A3D7-A247-8605-AF03FA115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202" y="5913198"/>
            <a:ext cx="2138825" cy="5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5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184A85-9E47-4367-3251-3B7B43C5C9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 descr="blob:https://hartford0-my.sharepoint.com/edbe8a57-a222-49e8-a9ee-09c52d5f7bed">
            <a:extLst>
              <a:ext uri="{FF2B5EF4-FFF2-40B4-BE49-F238E27FC236}">
                <a16:creationId xmlns:a16="http://schemas.microsoft.com/office/drawing/2014/main" id="{4D58631B-0D6F-F476-DADA-1A7049A832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971" y="-2552029"/>
            <a:ext cx="6184176" cy="61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en-US" sz="2533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DF0B4F8-F587-CEBA-61EB-E7BB54FFA076}"/>
              </a:ext>
            </a:extLst>
          </p:cNvPr>
          <p:cNvSpPr/>
          <p:nvPr/>
        </p:nvSpPr>
        <p:spPr>
          <a:xfrm>
            <a:off x="-680721" y="497839"/>
            <a:ext cx="5763623" cy="2040708"/>
          </a:xfrm>
          <a:prstGeom prst="parallelogram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78FAF3CE-57BD-F71E-A261-C88643C4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6" y="1873246"/>
            <a:ext cx="4133669" cy="60199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A2629F8-EB25-F646-826F-1CD746C84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68" y="540059"/>
            <a:ext cx="4550393" cy="14290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467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76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184A85-9E47-4367-3251-3B7B43C5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43" b="29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 descr="blob:https://hartford0-my.sharepoint.com/edbe8a57-a222-49e8-a9ee-09c52d5f7bed">
            <a:extLst>
              <a:ext uri="{FF2B5EF4-FFF2-40B4-BE49-F238E27FC236}">
                <a16:creationId xmlns:a16="http://schemas.microsoft.com/office/drawing/2014/main" id="{4D58631B-0D6F-F476-DADA-1A7049A832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971" y="-2552029"/>
            <a:ext cx="6184176" cy="61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en-US" sz="2533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DF0B4F8-F587-CEBA-61EB-E7BB54FFA076}"/>
              </a:ext>
            </a:extLst>
          </p:cNvPr>
          <p:cNvSpPr/>
          <p:nvPr/>
        </p:nvSpPr>
        <p:spPr>
          <a:xfrm>
            <a:off x="-680721" y="497839"/>
            <a:ext cx="5763623" cy="2040708"/>
          </a:xfrm>
          <a:prstGeom prst="parallelogram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78FAF3CE-57BD-F71E-A261-C88643C4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6" y="1873246"/>
            <a:ext cx="4133669" cy="60199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A2629F8-EB25-F646-826F-1CD746C84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68" y="540059"/>
            <a:ext cx="4550393" cy="14290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467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121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184A85-9E47-4367-3251-3B7B43C5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55" b="1564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 descr="blob:https://hartford0-my.sharepoint.com/edbe8a57-a222-49e8-a9ee-09c52d5f7bed">
            <a:extLst>
              <a:ext uri="{FF2B5EF4-FFF2-40B4-BE49-F238E27FC236}">
                <a16:creationId xmlns:a16="http://schemas.microsoft.com/office/drawing/2014/main" id="{4D58631B-0D6F-F476-DADA-1A7049A832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971" y="-2552029"/>
            <a:ext cx="6184176" cy="61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en-US" sz="2533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DF0B4F8-F587-CEBA-61EB-E7BB54FFA076}"/>
              </a:ext>
            </a:extLst>
          </p:cNvPr>
          <p:cNvSpPr/>
          <p:nvPr/>
        </p:nvSpPr>
        <p:spPr>
          <a:xfrm>
            <a:off x="-680721" y="497839"/>
            <a:ext cx="5763623" cy="2040708"/>
          </a:xfrm>
          <a:prstGeom prst="parallelogram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78FAF3CE-57BD-F71E-A261-C88643C4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6" y="1873246"/>
            <a:ext cx="4133669" cy="60199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A2629F8-EB25-F646-826F-1CD746C84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68" y="540059"/>
            <a:ext cx="4550393" cy="14290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467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434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Slid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184A85-9E47-4367-3251-3B7B43C5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7" b="307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 descr="blob:https://hartford0-my.sharepoint.com/edbe8a57-a222-49e8-a9ee-09c52d5f7bed">
            <a:extLst>
              <a:ext uri="{FF2B5EF4-FFF2-40B4-BE49-F238E27FC236}">
                <a16:creationId xmlns:a16="http://schemas.microsoft.com/office/drawing/2014/main" id="{4D58631B-0D6F-F476-DADA-1A7049A832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4971" y="-2552029"/>
            <a:ext cx="6184176" cy="61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888" tIns="60944" rIns="121888" bIns="60944" numCol="1" anchor="t" anchorCtr="0" compatLnSpc="1">
            <a:prstTxWarp prst="textNoShape">
              <a:avLst/>
            </a:prstTxWarp>
          </a:bodyPr>
          <a:lstStyle/>
          <a:p>
            <a:endParaRPr lang="en-US" sz="2533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DF0B4F8-F587-CEBA-61EB-E7BB54FFA076}"/>
              </a:ext>
            </a:extLst>
          </p:cNvPr>
          <p:cNvSpPr/>
          <p:nvPr/>
        </p:nvSpPr>
        <p:spPr>
          <a:xfrm>
            <a:off x="-680721" y="497839"/>
            <a:ext cx="5763623" cy="2040708"/>
          </a:xfrm>
          <a:prstGeom prst="parallelogram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8" name="Picture 7" descr="A red and black logo&#10;&#10;Description automatically generated">
            <a:extLst>
              <a:ext uri="{FF2B5EF4-FFF2-40B4-BE49-F238E27FC236}">
                <a16:creationId xmlns:a16="http://schemas.microsoft.com/office/drawing/2014/main" id="{78FAF3CE-57BD-F71E-A261-C88643C4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66" y="1873246"/>
            <a:ext cx="4133669" cy="60199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A2629F8-EB25-F646-826F-1CD746C84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868" y="540059"/>
            <a:ext cx="4550393" cy="142900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467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639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Ope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6B18D6-CFE9-7A0B-7758-5309BDFA9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693058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4799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Title, Arial 36. Can make smaller, but should be larger than subtitle.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38923A-3DBA-4590-F1B4-1CBC2BD243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2613765"/>
            <a:ext cx="6811477" cy="2288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667" i="1">
                <a:solidFill>
                  <a:schemeClr val="tx1"/>
                </a:solidFill>
              </a:defRPr>
            </a:lvl1pPr>
            <a:lvl2pPr marL="6093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Subtitle, Arial 20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465ED-0D39-C4F2-8442-62ABEA07B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00474" y="4493005"/>
            <a:ext cx="2135036" cy="180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20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Open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6B18D6-CFE9-7A0B-7758-5309BDFA94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693058"/>
            <a:ext cx="103632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4799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Title, Arial 36. Can make smaller, but should be larger than subtitle.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38923A-3DBA-4590-F1B4-1CBC2BD243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2613765"/>
            <a:ext cx="6811477" cy="22887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667" i="1">
                <a:solidFill>
                  <a:schemeClr val="tx1"/>
                </a:solidFill>
              </a:defRPr>
            </a:lvl1pPr>
            <a:lvl2pPr marL="6093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Subtitle, Arial 20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465ED-0D39-C4F2-8442-62ABEA07B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00474" y="4493292"/>
            <a:ext cx="2135036" cy="180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75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4C32-05EE-F667-F38B-EBDD58A9B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10515600" cy="906025"/>
          </a:xfrm>
          <a:prstGeom prst="rect">
            <a:avLst/>
          </a:prstGeom>
        </p:spPr>
        <p:txBody>
          <a:bodyPr lIns="0" rIns="0"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Agenda Slide, Arial 24</a:t>
            </a:r>
          </a:p>
        </p:txBody>
      </p:sp>
      <p:cxnSp>
        <p:nvCxnSpPr>
          <p:cNvPr id="9" name="Google Shape;57;p7">
            <a:extLst>
              <a:ext uri="{FF2B5EF4-FFF2-40B4-BE49-F238E27FC236}">
                <a16:creationId xmlns:a16="http://schemas.microsoft.com/office/drawing/2014/main" id="{E70D0C90-50DE-D15F-CCAB-2F0329A0D616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55;p7">
            <a:extLst>
              <a:ext uri="{FF2B5EF4-FFF2-40B4-BE49-F238E27FC236}">
                <a16:creationId xmlns:a16="http://schemas.microsoft.com/office/drawing/2014/main" id="{22246B98-BD2E-59E3-CF77-3384E6DE9500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9ACBA-C7CF-8300-8204-4D6849A77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9E820E-758A-C4A2-39DF-63502737C6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18801" y="1730555"/>
            <a:ext cx="4569545" cy="4360252"/>
          </a:xfrm>
          <a:prstGeom prst="rect">
            <a:avLst/>
          </a:prstGeom>
        </p:spPr>
        <p:txBody>
          <a:bodyPr lIns="0" tIns="0" bIns="0"/>
          <a:lstStyle>
            <a:lvl1pPr marL="0" indent="0">
              <a:lnSpc>
                <a:spcPct val="100000"/>
              </a:lnSpc>
              <a:buFontTx/>
              <a:buNone/>
              <a:defRPr sz="1867"/>
            </a:lvl1pPr>
            <a:lvl2pPr marL="304792" indent="0">
              <a:lnSpc>
                <a:spcPct val="100000"/>
              </a:lnSpc>
              <a:spcBef>
                <a:spcPts val="0"/>
              </a:spcBef>
              <a:buFontTx/>
              <a:buNone/>
              <a:defRPr sz="1867" i="1"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Agenda Item 1, Arial 14</a:t>
            </a:r>
          </a:p>
          <a:p>
            <a:pPr lvl="1"/>
            <a:r>
              <a:rPr lang="en-US"/>
              <a:t>Presenter, Arial 14 Italic</a:t>
            </a:r>
          </a:p>
          <a:p>
            <a:pPr lvl="0"/>
            <a:r>
              <a:rPr lang="en-US"/>
              <a:t>Agenda Item 2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3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4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5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6</a:t>
            </a:r>
          </a:p>
          <a:p>
            <a:pPr lvl="1"/>
            <a:r>
              <a:rPr lang="en-US"/>
              <a:t>Presenter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4E7514E-E885-7372-905E-EFDD63F213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1657" y="1740084"/>
            <a:ext cx="4673600" cy="43507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867"/>
            </a:lvl1pPr>
            <a:lvl2pPr marL="304792" indent="0">
              <a:lnSpc>
                <a:spcPct val="100000"/>
              </a:lnSpc>
              <a:spcBef>
                <a:spcPts val="0"/>
              </a:spcBef>
              <a:buFontTx/>
              <a:buNone/>
              <a:defRPr sz="1867" i="1"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Agenda Item 7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8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9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10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11</a:t>
            </a:r>
          </a:p>
          <a:p>
            <a:pPr lvl="1"/>
            <a:r>
              <a:rPr lang="en-US"/>
              <a:t>Presenter</a:t>
            </a:r>
          </a:p>
          <a:p>
            <a:pPr lvl="0"/>
            <a:r>
              <a:rPr lang="en-US"/>
              <a:t>Agenda Item 12</a:t>
            </a:r>
          </a:p>
          <a:p>
            <a:pPr lvl="1"/>
            <a:r>
              <a:rPr lang="en-US"/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97388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4C32-05EE-F667-F38B-EBDD58A9B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10515600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and bulleted list slide, title is Arial 24, </a:t>
            </a:r>
            <a:br>
              <a:rPr lang="en-US"/>
            </a:br>
            <a:r>
              <a:rPr lang="en-US"/>
              <a:t>two lines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102F-A268-54D8-4085-858D6AFA4C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729501"/>
            <a:ext cx="10515600" cy="4349749"/>
          </a:xfrm>
          <a:prstGeom prst="rect">
            <a:avLst/>
          </a:prstGeom>
        </p:spPr>
        <p:txBody>
          <a:bodyPr/>
          <a:lstStyle>
            <a:lvl1pPr marL="182875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This is a bulleted list, Arial 18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Google Shape;57;p7">
            <a:extLst>
              <a:ext uri="{FF2B5EF4-FFF2-40B4-BE49-F238E27FC236}">
                <a16:creationId xmlns:a16="http://schemas.microsoft.com/office/drawing/2014/main" id="{E70D0C90-50DE-D15F-CCAB-2F0329A0D616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55;p7">
            <a:extLst>
              <a:ext uri="{FF2B5EF4-FFF2-40B4-BE49-F238E27FC236}">
                <a16:creationId xmlns:a16="http://schemas.microsoft.com/office/drawing/2014/main" id="{22246B98-BD2E-59E3-CF77-3384E6DE9500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9ACBA-C7CF-8300-8204-4D6849A77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2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4C32-05EE-F667-F38B-EBDD58A9B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10515600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and text slide, title is Arial 24, </a:t>
            </a:r>
            <a:br>
              <a:rPr lang="en-US"/>
            </a:br>
            <a:r>
              <a:rPr lang="en-US"/>
              <a:t>two lines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7102F-A268-54D8-4085-858D6AFA4C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729501"/>
            <a:ext cx="10515600" cy="43497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Tx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-182875"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-182875"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This is a text slide, Arial 18.</a:t>
            </a:r>
          </a:p>
          <a:p>
            <a:pPr lvl="0"/>
            <a:r>
              <a:rPr lang="en-US"/>
              <a:t>Stet </a:t>
            </a:r>
            <a:r>
              <a:rPr lang="en-US" err="1"/>
              <a:t>cliga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</a:t>
            </a:r>
          </a:p>
          <a:p>
            <a:pPr lvl="0"/>
            <a:r>
              <a:rPr lang="en-US"/>
              <a:t>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cliga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cxnSp>
        <p:nvCxnSpPr>
          <p:cNvPr id="9" name="Google Shape;57;p7">
            <a:extLst>
              <a:ext uri="{FF2B5EF4-FFF2-40B4-BE49-F238E27FC236}">
                <a16:creationId xmlns:a16="http://schemas.microsoft.com/office/drawing/2014/main" id="{E70D0C90-50DE-D15F-CCAB-2F0329A0D616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55;p7">
            <a:extLst>
              <a:ext uri="{FF2B5EF4-FFF2-40B4-BE49-F238E27FC236}">
                <a16:creationId xmlns:a16="http://schemas.microsoft.com/office/drawing/2014/main" id="{35EF0C41-B35B-16B9-697E-3496E74295AE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B5294-9222-F4A8-76FA-40C3EB39F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6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2 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8442-0892-FA86-C1AD-18FBBFBEC9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6684"/>
            <a:ext cx="5156200" cy="4349749"/>
          </a:xfrm>
          <a:prstGeom prst="rect">
            <a:avLst/>
          </a:prstGeom>
        </p:spPr>
        <p:txBody>
          <a:bodyPr/>
          <a:lstStyle>
            <a:lvl1pPr marL="182875" indent="-182875">
              <a:lnSpc>
                <a:spcPct val="100000"/>
              </a:lnSpc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This is a bulleted list, Arial 18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1ACF8-5225-5EF0-41E6-5D4DC71C863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97600" y="1826684"/>
            <a:ext cx="5156200" cy="4349749"/>
          </a:xfrm>
          <a:prstGeom prst="rect">
            <a:avLst/>
          </a:prstGeom>
        </p:spPr>
        <p:txBody>
          <a:bodyPr/>
          <a:lstStyle>
            <a:lvl1pPr indent="-182875">
              <a:lnSpc>
                <a:spcPct val="100000"/>
              </a:lnSpc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377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-182875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This is a bulleted list, Arial 18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8F6611-7265-52B3-EBC7-0FFE3EDAB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10515600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and 2 column bulleted list slide, </a:t>
            </a:r>
            <a:br>
              <a:rPr lang="en-US"/>
            </a:br>
            <a:r>
              <a:rPr lang="en-US"/>
              <a:t>title is Arial 24, two lines max</a:t>
            </a:r>
          </a:p>
        </p:txBody>
      </p:sp>
      <p:cxnSp>
        <p:nvCxnSpPr>
          <p:cNvPr id="9" name="Google Shape;57;p7">
            <a:extLst>
              <a:ext uri="{FF2B5EF4-FFF2-40B4-BE49-F238E27FC236}">
                <a16:creationId xmlns:a16="http://schemas.microsoft.com/office/drawing/2014/main" id="{E81B7ACC-B1D3-DC26-A9DF-65B6B9AFB30A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5;p7">
            <a:extLst>
              <a:ext uri="{FF2B5EF4-FFF2-40B4-BE49-F238E27FC236}">
                <a16:creationId xmlns:a16="http://schemas.microsoft.com/office/drawing/2014/main" id="{A2CCE8BE-2590-D7A6-ACC8-44108A191C98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2081A-1C34-A781-978F-3C0378B3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29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2 column list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88C4B58-BC98-2FE6-46EE-1D862B9F9FB9}"/>
              </a:ext>
            </a:extLst>
          </p:cNvPr>
          <p:cNvSpPr/>
          <p:nvPr/>
        </p:nvSpPr>
        <p:spPr>
          <a:xfrm>
            <a:off x="6197600" y="2638176"/>
            <a:ext cx="5175336" cy="3446051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9A5296-7AFB-9B4D-D347-F3CC2D51F3FF}"/>
              </a:ext>
            </a:extLst>
          </p:cNvPr>
          <p:cNvSpPr/>
          <p:nvPr/>
        </p:nvSpPr>
        <p:spPr>
          <a:xfrm>
            <a:off x="819064" y="2641599"/>
            <a:ext cx="5175336" cy="3446051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E09D1-9071-10D4-E9BA-382EA889BA7B}"/>
              </a:ext>
            </a:extLst>
          </p:cNvPr>
          <p:cNvSpPr/>
          <p:nvPr/>
        </p:nvSpPr>
        <p:spPr>
          <a:xfrm>
            <a:off x="819064" y="1594982"/>
            <a:ext cx="5175336" cy="985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C744F-B37B-CFB6-D2F3-30247D63C8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0330" y="1680634"/>
            <a:ext cx="4885151" cy="82550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2133" b="1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Column Header 1, two lines max, Arial 16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44776F-358F-92AD-235C-BDF2CA1BC3D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960329" y="2802126"/>
            <a:ext cx="4885152" cy="3151913"/>
          </a:xfrm>
          <a:prstGeom prst="rect">
            <a:avLst/>
          </a:prstGeom>
        </p:spPr>
        <p:txBody>
          <a:bodyPr/>
          <a:lstStyle>
            <a:lvl1pPr marL="182875" indent="-182875">
              <a:lnSpc>
                <a:spcPct val="100000"/>
              </a:lnSpc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-182875"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-182875"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8B71FF9-916A-4204-51F5-609B6456E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8865" y="2802125"/>
            <a:ext cx="4885152" cy="3151915"/>
          </a:xfrm>
          <a:prstGeom prst="rect">
            <a:avLst/>
          </a:prstGeom>
        </p:spPr>
        <p:txBody>
          <a:bodyPr/>
          <a:lstStyle>
            <a:lvl1pPr indent="-182875">
              <a:lnSpc>
                <a:spcPct val="100000"/>
              </a:lnSpc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377" indent="-182875"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19170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754" indent="-182875">
              <a:spcBef>
                <a:spcPts val="0"/>
              </a:spcBef>
              <a:spcAft>
                <a:spcPts val="800"/>
              </a:spcAft>
              <a:buFont typeface="System Font Regular"/>
              <a:buChar char="-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38339" indent="-182875">
              <a:spcBef>
                <a:spcPts val="0"/>
              </a:spcBef>
              <a:spcAft>
                <a:spcPts val="800"/>
              </a:spcAft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649041F-1F89-AD8B-F2FA-A7F574586D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10515600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and 2 column bulleted list slide with column headers; title is Arial 24, two lines max</a:t>
            </a:r>
          </a:p>
        </p:txBody>
      </p:sp>
      <p:cxnSp>
        <p:nvCxnSpPr>
          <p:cNvPr id="13" name="Google Shape;57;p7">
            <a:extLst>
              <a:ext uri="{FF2B5EF4-FFF2-40B4-BE49-F238E27FC236}">
                <a16:creationId xmlns:a16="http://schemas.microsoft.com/office/drawing/2014/main" id="{15E16062-14AD-BE71-46D7-ED53D0CDDE3E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5;p7">
            <a:extLst>
              <a:ext uri="{FF2B5EF4-FFF2-40B4-BE49-F238E27FC236}">
                <a16:creationId xmlns:a16="http://schemas.microsoft.com/office/drawing/2014/main" id="{980B3CFD-2923-7F9A-A923-463E4546BEB4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F74975-477D-C42E-C950-73DAA8D34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7B91958-05D8-F94D-AEA1-DC8B4D8030EA}"/>
              </a:ext>
            </a:extLst>
          </p:cNvPr>
          <p:cNvSpPr/>
          <p:nvPr/>
        </p:nvSpPr>
        <p:spPr>
          <a:xfrm>
            <a:off x="6197600" y="1594982"/>
            <a:ext cx="5175336" cy="9853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CDFE94-5D71-0165-D776-5D4C8E20455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38866" y="1680634"/>
            <a:ext cx="4885151" cy="825500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buNone/>
              <a:defRPr sz="2133" b="1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Column Header 1, two lines max, Arial 16</a:t>
            </a:r>
          </a:p>
        </p:txBody>
      </p:sp>
    </p:spTree>
    <p:extLst>
      <p:ext uri="{BB962C8B-B14F-4D97-AF65-F5344CB8AC3E}">
        <p14:creationId xmlns:p14="http://schemas.microsoft.com/office/powerpoint/2010/main" val="4190841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Photo/Chart slide,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22C9CD1-6599-7977-E2E8-9B33E51CF4C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0805" y="608896"/>
            <a:ext cx="10499367" cy="5384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Insert Photo/chart; click icon in center</a:t>
            </a:r>
          </a:p>
        </p:txBody>
      </p:sp>
      <p:sp>
        <p:nvSpPr>
          <p:cNvPr id="2" name="Google Shape;55;p7">
            <a:extLst>
              <a:ext uri="{FF2B5EF4-FFF2-40B4-BE49-F238E27FC236}">
                <a16:creationId xmlns:a16="http://schemas.microsoft.com/office/drawing/2014/main" id="{63454D7F-DC93-7D8C-0609-E0354D1E071A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0E9E2-B39A-9FDE-F0DE-614087310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56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Photo/Chart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22C9CD1-6599-7977-E2E8-9B33E51CF4C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9063" y="1688139"/>
            <a:ext cx="10481109" cy="445794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Insert chart; click icon in center</a:t>
            </a:r>
          </a:p>
        </p:txBody>
      </p:sp>
      <p:sp>
        <p:nvSpPr>
          <p:cNvPr id="2" name="Google Shape;55;p7">
            <a:extLst>
              <a:ext uri="{FF2B5EF4-FFF2-40B4-BE49-F238E27FC236}">
                <a16:creationId xmlns:a16="http://schemas.microsoft.com/office/drawing/2014/main" id="{63454D7F-DC93-7D8C-0609-E0354D1E071A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0E9E2-B39A-9FDE-F0DE-614087310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3252904-52C4-7372-E871-9D6BEF7BD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10515600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chart slide, title is Arial 24, </a:t>
            </a:r>
            <a:br>
              <a:rPr lang="en-US"/>
            </a:br>
            <a:r>
              <a:rPr lang="en-US"/>
              <a:t>two lines max</a:t>
            </a:r>
          </a:p>
        </p:txBody>
      </p:sp>
      <p:cxnSp>
        <p:nvCxnSpPr>
          <p:cNvPr id="5" name="Google Shape;57;p7">
            <a:extLst>
              <a:ext uri="{FF2B5EF4-FFF2-40B4-BE49-F238E27FC236}">
                <a16:creationId xmlns:a16="http://schemas.microsoft.com/office/drawing/2014/main" id="{CC4BD330-10DF-C2AB-0390-FBA94AFFB3DB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24850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Photo/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22C9CD1-6599-7977-E2E8-9B33E51CF4C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0806" y="608896"/>
            <a:ext cx="6695017" cy="5384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Insert Photo/chart, click icon in center</a:t>
            </a:r>
          </a:p>
        </p:txBody>
      </p:sp>
      <p:sp>
        <p:nvSpPr>
          <p:cNvPr id="3" name="Google Shape;55;p7">
            <a:extLst>
              <a:ext uri="{FF2B5EF4-FFF2-40B4-BE49-F238E27FC236}">
                <a16:creationId xmlns:a16="http://schemas.microsoft.com/office/drawing/2014/main" id="{0F0E7F1A-37BE-A8F6-CABE-AE6B576A4FDF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EAE7C-B5F3-F769-F32D-D26FD66135A1}"/>
              </a:ext>
            </a:extLst>
          </p:cNvPr>
          <p:cNvSpPr txBox="1"/>
          <p:nvPr/>
        </p:nvSpPr>
        <p:spPr>
          <a:xfrm>
            <a:off x="8077200" y="608896"/>
            <a:ext cx="3403600" cy="536857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lvl="0">
              <a:lnSpc>
                <a:spcPct val="100000"/>
              </a:lnSpc>
              <a:spcAft>
                <a:spcPts val="1600"/>
              </a:spcAft>
            </a:pPr>
            <a:r>
              <a:rPr lang="en-US" sz="2400"/>
              <a:t>Chart/photo commentary, Arial 18.</a:t>
            </a:r>
          </a:p>
          <a:p>
            <a:pPr lvl="0">
              <a:lnSpc>
                <a:spcPct val="100000"/>
              </a:lnSpc>
              <a:spcAft>
                <a:spcPts val="1600"/>
              </a:spcAft>
            </a:pPr>
            <a:r>
              <a:rPr lang="en-US" sz="2400"/>
              <a:t>Text can be made smaller to fit more content.</a:t>
            </a:r>
          </a:p>
          <a:p>
            <a:pPr>
              <a:lnSpc>
                <a:spcPct val="90000"/>
              </a:lnSpc>
              <a:spcAft>
                <a:spcPts val="1600"/>
              </a:spcAft>
            </a:pPr>
            <a:endParaRPr lang="en-US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21B76D-7A85-99B2-492B-3AD86E243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16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, content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F9BCDC-DDD0-00F9-2E06-411F96AAF286}"/>
              </a:ext>
            </a:extLst>
          </p:cNvPr>
          <p:cNvSpPr/>
          <p:nvPr/>
        </p:nvSpPr>
        <p:spPr>
          <a:xfrm>
            <a:off x="7032978" y="0"/>
            <a:ext cx="5159023" cy="685800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B4C32-05EE-F667-F38B-EBDD58A9B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5901267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and content slide, title is Arial 24, two lines max</a:t>
            </a:r>
          </a:p>
        </p:txBody>
      </p:sp>
      <p:cxnSp>
        <p:nvCxnSpPr>
          <p:cNvPr id="9" name="Google Shape;57;p7">
            <a:extLst>
              <a:ext uri="{FF2B5EF4-FFF2-40B4-BE49-F238E27FC236}">
                <a16:creationId xmlns:a16="http://schemas.microsoft.com/office/drawing/2014/main" id="{E70D0C90-50DE-D15F-CCAB-2F0329A0D616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5F6A47-E688-1603-9100-BF8073C78F1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5405873" cy="38121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Text here, Arial 18</a:t>
            </a:r>
          </a:p>
        </p:txBody>
      </p:sp>
      <p:sp>
        <p:nvSpPr>
          <p:cNvPr id="10" name="Google Shape;55;p7">
            <a:extLst>
              <a:ext uri="{FF2B5EF4-FFF2-40B4-BE49-F238E27FC236}">
                <a16:creationId xmlns:a16="http://schemas.microsoft.com/office/drawing/2014/main" id="{93070B2A-1A73-1863-2E19-4335F5266E11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C0946-8824-D0A6-1F30-CE0003985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AB7432A-74A2-BA3D-3951-9C96EEC86C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35334" y="702733"/>
            <a:ext cx="4131733" cy="233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photo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70A2208-DB73-EC80-7F99-B8361A040F2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35334" y="3471333"/>
            <a:ext cx="4131733" cy="233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304792" marR="0" lvl="0" indent="-304792" algn="l" defTabSz="1219170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423509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, conten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FD2F0E3-03F4-D938-398F-BFE07C58091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25733" y="0"/>
            <a:ext cx="5266267" cy="685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the icon to insert photo.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B4C32-05EE-F667-F38B-EBDD58A9B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6185"/>
            <a:ext cx="5920409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rgbClr val="DA1A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Title, content, and photo slide, Arial 24, 2 lines max</a:t>
            </a:r>
          </a:p>
        </p:txBody>
      </p:sp>
      <p:cxnSp>
        <p:nvCxnSpPr>
          <p:cNvPr id="9" name="Google Shape;57;p7">
            <a:extLst>
              <a:ext uri="{FF2B5EF4-FFF2-40B4-BE49-F238E27FC236}">
                <a16:creationId xmlns:a16="http://schemas.microsoft.com/office/drawing/2014/main" id="{E70D0C90-50DE-D15F-CCAB-2F0329A0D616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C5F6A47-E688-1603-9100-BF8073C78F1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5591404" cy="38121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Text here, Arial 18</a:t>
            </a:r>
          </a:p>
        </p:txBody>
      </p:sp>
      <p:sp>
        <p:nvSpPr>
          <p:cNvPr id="10" name="Google Shape;55;p7">
            <a:extLst>
              <a:ext uri="{FF2B5EF4-FFF2-40B4-BE49-F238E27FC236}">
                <a16:creationId xmlns:a16="http://schemas.microsoft.com/office/drawing/2014/main" id="{93070B2A-1A73-1863-2E19-4335F5266E11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3960F7-8BD6-A6F5-F73B-8C69D43E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69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background color, Title, Content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5;p7">
            <a:extLst>
              <a:ext uri="{FF2B5EF4-FFF2-40B4-BE49-F238E27FC236}">
                <a16:creationId xmlns:a16="http://schemas.microsoft.com/office/drawing/2014/main" id="{93070B2A-1A73-1863-2E19-4335F5266E11}"/>
              </a:ext>
            </a:extLst>
          </p:cNvPr>
          <p:cNvSpPr txBox="1"/>
          <p:nvPr/>
        </p:nvSpPr>
        <p:spPr>
          <a:xfrm>
            <a:off x="11300179" y="6460797"/>
            <a:ext cx="891821" cy="3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43" tIns="121843" rIns="121843" bIns="121843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 b="0" i="0">
                <a:solidFill>
                  <a:schemeClr val="tx1"/>
                </a:solidFill>
                <a:latin typeface="Arial" panose="020B0604020202020204" pitchFamily="34" charset="0"/>
                <a:ea typeface="Proxima Nova"/>
                <a:cs typeface="Arial" panose="020B0604020202020204" pitchFamily="34" charset="0"/>
                <a:sym typeface="Proxima Nova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000" b="0" i="0">
              <a:solidFill>
                <a:schemeClr val="tx1"/>
              </a:solidFill>
              <a:latin typeface="Arial" panose="020B0604020202020204" pitchFamily="34" charset="0"/>
              <a:ea typeface="Proxima Nova"/>
              <a:cs typeface="Arial" panose="020B0604020202020204" pitchFamily="34" charset="0"/>
              <a:sym typeface="Proxima Nov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3960F7-8BD6-A6F5-F73B-8C69D43E9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  <p:sp>
        <p:nvSpPr>
          <p:cNvPr id="6" name="Google Shape;93;p11">
            <a:extLst>
              <a:ext uri="{FF2B5EF4-FFF2-40B4-BE49-F238E27FC236}">
                <a16:creationId xmlns:a16="http://schemas.microsoft.com/office/drawing/2014/main" id="{66DB4D29-FDBB-9FCF-E9A9-E4E993907AFD}"/>
              </a:ext>
            </a:extLst>
          </p:cNvPr>
          <p:cNvSpPr/>
          <p:nvPr/>
        </p:nvSpPr>
        <p:spPr>
          <a:xfrm>
            <a:off x="437174" y="893523"/>
            <a:ext cx="5948749" cy="45928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03" tIns="91403" rIns="91403" bIns="9140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E92C758-6544-2E92-B500-78F919BB6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349" y="1122501"/>
            <a:ext cx="5213120" cy="91909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FontTx/>
              <a:buNone/>
              <a:defRPr sz="2667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and photo slide, Arial 20, two lines max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46BB205-E795-A943-4A7F-6EBF9574589A}"/>
              </a:ext>
            </a:extLst>
          </p:cNvPr>
          <p:cNvSpPr txBox="1">
            <a:spLocks/>
          </p:cNvSpPr>
          <p:nvPr/>
        </p:nvSpPr>
        <p:spPr>
          <a:xfrm>
            <a:off x="697350" y="2546958"/>
            <a:ext cx="5124684" cy="248014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ts val="1649"/>
              </a:lnSpc>
              <a:spcBef>
                <a:spcPct val="0"/>
              </a:spcBef>
              <a:buNone/>
              <a:defRPr sz="1200" b="0" i="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>
              <a:lnSpc>
                <a:spcPct val="100000"/>
              </a:lnSpc>
              <a:spcAft>
                <a:spcPts val="1600"/>
              </a:spcAft>
            </a:pPr>
            <a:r>
              <a:rPr lang="en-US" sz="2133"/>
              <a:t>Text here, Arial 16</a:t>
            </a:r>
          </a:p>
        </p:txBody>
      </p:sp>
      <p:cxnSp>
        <p:nvCxnSpPr>
          <p:cNvPr id="11" name="Google Shape;57;p7">
            <a:extLst>
              <a:ext uri="{FF2B5EF4-FFF2-40B4-BE49-F238E27FC236}">
                <a16:creationId xmlns:a16="http://schemas.microsoft.com/office/drawing/2014/main" id="{92BD59C8-1440-B847-9EAF-3C0D97B699C4}"/>
              </a:ext>
            </a:extLst>
          </p:cNvPr>
          <p:cNvCxnSpPr>
            <a:cxnSpLocks/>
          </p:cNvCxnSpPr>
          <p:nvPr/>
        </p:nvCxnSpPr>
        <p:spPr>
          <a:xfrm>
            <a:off x="802363" y="2162905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DAE0F6-737F-173E-5E2F-7411D0E5B0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85984" y="0"/>
            <a:ext cx="5806016" cy="6868584"/>
          </a:xfrm>
          <a:prstGeom prst="rect">
            <a:avLst/>
          </a:prstGeom>
        </p:spPr>
        <p:txBody>
          <a:bodyPr anchor="t"/>
          <a:lstStyle>
            <a:lvl1pPr marL="0" indent="0">
              <a:buFontTx/>
              <a:buNone/>
              <a:defRPr sz="2400"/>
            </a:lvl1pPr>
          </a:lstStyle>
          <a:p>
            <a:r>
              <a:rPr lang="en-US"/>
              <a:t>Click on icon to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7234200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- backgound slide, title, content">
    <p:bg>
      <p:bgPr>
        <a:solidFill>
          <a:srgbClr val="EE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393450-8190-7D9C-BABD-CE4EA7814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" y="6398198"/>
            <a:ext cx="11300168" cy="4710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44DD1-7C89-7AB0-9FC8-9914A94AB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6185"/>
            <a:ext cx="10459855" cy="9060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32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and content slide, with shaded background, title is Arial 24, two lines max</a:t>
            </a:r>
          </a:p>
        </p:txBody>
      </p:sp>
      <p:cxnSp>
        <p:nvCxnSpPr>
          <p:cNvPr id="3" name="Google Shape;57;p7">
            <a:extLst>
              <a:ext uri="{FF2B5EF4-FFF2-40B4-BE49-F238E27FC236}">
                <a16:creationId xmlns:a16="http://schemas.microsoft.com/office/drawing/2014/main" id="{18A1A559-C62A-C0B4-97C4-E633E0460F7B}"/>
              </a:ext>
            </a:extLst>
          </p:cNvPr>
          <p:cNvCxnSpPr>
            <a:cxnSpLocks/>
          </p:cNvCxnSpPr>
          <p:nvPr/>
        </p:nvCxnSpPr>
        <p:spPr>
          <a:xfrm>
            <a:off x="819064" y="1411343"/>
            <a:ext cx="797701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FFB781A-E5FD-D138-AC39-E43D7B364BA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10459855" cy="38121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Text here, Arial 18</a:t>
            </a:r>
          </a:p>
        </p:txBody>
      </p:sp>
    </p:spTree>
    <p:extLst>
      <p:ext uri="{BB962C8B-B14F-4D97-AF65-F5344CB8AC3E}">
        <p14:creationId xmlns:p14="http://schemas.microsoft.com/office/powerpoint/2010/main" val="71099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71102-3E78-434E-9893-6BECE40814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2" name="Picture 1" descr="UHart-Logo-Stacked-01.png">
            <a:extLst>
              <a:ext uri="{FF2B5EF4-FFF2-40B4-BE49-F238E27FC236}">
                <a16:creationId xmlns:a16="http://schemas.microsoft.com/office/drawing/2014/main" id="{DFFF722A-FFAA-A174-C2B6-9C3E1E89F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110" y="2904513"/>
            <a:ext cx="4315781" cy="104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730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D867-81BE-8F1A-53B6-7473B3B5E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4A22E-ADB2-1FE9-5924-8EB758C45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86506-AA5A-69DE-E0B7-7A412AEC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6BDA6-7612-433D-9C27-26D85EEF2BF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134B-0DDD-137B-6CF8-97ABD24A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9CB2B-77D5-9B5F-F4CC-3413BECD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5790C-B624-4F5F-A083-FF072BEE5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7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fontScale="25000" lnSpcReduction="20000"/>
          </a:bodyPr>
          <a:lstStyle/>
          <a:p>
            <a:r>
              <a:rPr lang="en-US" sz="3700">
                <a:cs typeface="Arial"/>
              </a:rPr>
              <a:t>Avi Cooperman, Jack O’charek</a:t>
            </a:r>
          </a:p>
          <a:p>
            <a:r>
              <a:rPr lang="en-US"/>
              <a:t>Course: ES115 – Engineering Computer Applications</a:t>
            </a:r>
          </a:p>
          <a:p>
            <a:r>
              <a:rPr lang="en-US"/>
              <a:t>Module 2: Physics &amp; Chemistry Applications</a:t>
            </a:r>
          </a:p>
          <a:p>
            <a:r>
              <a:rPr lang="en-US" sz="3700"/>
              <a:t>Date: April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Aerospace Altitude &amp; Speed Profile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Overview / System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modeled a commercial aircraft flight from takeoff to landing.</a:t>
            </a:r>
          </a:p>
          <a:p>
            <a:r>
              <a:rPr lang="en-US" dirty="0"/>
              <a:t>Flight data includes altitude (ft) and speed (knots) sampled every second over a 2-hour flight.</a:t>
            </a:r>
          </a:p>
          <a:p>
            <a:r>
              <a:rPr lang="en-US" dirty="0"/>
              <a:t>Why it matters:</a:t>
            </a:r>
          </a:p>
          <a:p>
            <a:pPr lvl="1"/>
            <a:r>
              <a:rPr lang="en-US" dirty="0"/>
              <a:t>Aircraft must stay within safe altitude and speed envelopes at all times</a:t>
            </a:r>
          </a:p>
          <a:p>
            <a:pPr lvl="1"/>
            <a:r>
              <a:rPr lang="en-US" dirty="0"/>
              <a:t>Phase detection enables automated flight monitoring and anomaly detection</a:t>
            </a:r>
          </a:p>
          <a:p>
            <a:r>
              <a:rPr lang="en-US" dirty="0"/>
              <a:t>Data source: Synthetic time-series generated to match realistic commercial flight 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Engineering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Analyze a complete flight profile and answer three core questions:</a:t>
            </a:r>
          </a:p>
          <a:p>
            <a:pPr lvl="1"/>
            <a:r>
              <a:rPr lang="en-US"/>
              <a:t>What phase is the aircraft in at any given moment?</a:t>
            </a:r>
          </a:p>
          <a:p>
            <a:pPr lvl="1"/>
            <a:r>
              <a:rPr lang="en-US"/>
              <a:t>How does altitude and speed evolve across the flight?</a:t>
            </a:r>
          </a:p>
          <a:p>
            <a:pPr lvl="1"/>
            <a:r>
              <a:rPr lang="en-US"/>
              <a:t>What are the key performance metrics of the flight?</a:t>
            </a:r>
          </a:p>
          <a:p>
            <a:r>
              <a:rPr lang="en-US"/>
              <a:t>Metrics computed:</a:t>
            </a:r>
          </a:p>
          <a:p>
            <a:pPr lvl="1"/>
            <a:r>
              <a:rPr lang="en-US"/>
              <a:t>Maximum climb rate (ft/min)</a:t>
            </a:r>
          </a:p>
          <a:p>
            <a:pPr lvl="1"/>
            <a:r>
              <a:rPr lang="en-US"/>
              <a:t>Average cruise speed (knots)</a:t>
            </a:r>
          </a:p>
          <a:p>
            <a:pPr lvl="1"/>
            <a:r>
              <a:rPr lang="en-US"/>
              <a:t>Descent duration (minutes)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Mathematical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Phase identification uses threshold logic on altitude h(t) and speed v(t):</a:t>
            </a:r>
          </a:p>
          <a:p>
            <a:pPr lvl="1"/>
            <a:r>
              <a:rPr lang="en-US"/>
              <a:t>Ground:   h(t) &lt; 500 ft  AND  v(t) &lt; 80 kts</a:t>
            </a:r>
          </a:p>
          <a:p>
            <a:pPr lvl="1"/>
            <a:r>
              <a:rPr lang="en-US"/>
              <a:t>Takeoff:  h(t) &lt; 500 ft  AND  v(t) &gt;= 80 kts</a:t>
            </a:r>
          </a:p>
          <a:p>
            <a:pPr lvl="1"/>
            <a:r>
              <a:rPr lang="en-US"/>
              <a:t>Climb:    h(t) &lt; 30,000 ft  AND  dh/dt &gt; 5 ft/s</a:t>
            </a:r>
          </a:p>
          <a:p>
            <a:pPr lvl="1"/>
            <a:r>
              <a:rPr lang="en-US"/>
              <a:t>Cruise:   h(t) &gt;= 30,000 ft  AND  dh/dt &gt;= -5 ft/s</a:t>
            </a:r>
          </a:p>
          <a:p>
            <a:pPr lvl="1"/>
            <a:r>
              <a:rPr lang="en-US"/>
              <a:t>Descent:  dh/dt &lt; -5 ft/s</a:t>
            </a:r>
          </a:p>
          <a:p>
            <a:r>
              <a:rPr lang="en-US"/>
              <a:t>Rate of climb:  dh/dt = (h(t+1) - h(t)) / dt  [forward difference]</a:t>
            </a:r>
          </a:p>
          <a:p>
            <a:r>
              <a:rPr lang="en-US"/>
              <a:t>Smoothed with 30-second moving average to suppress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/ System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8870"/>
            <a:ext cx="10515600" cy="4349749"/>
          </a:xfrm>
        </p:spPr>
        <p:txBody>
          <a:bodyPr/>
          <a:lstStyle/>
          <a:p>
            <a:r>
              <a:rPr lang="en-US" dirty="0"/>
              <a:t>Step 1: Generate synthetic altitude and speed arrays over t = 0 to 7200 s</a:t>
            </a:r>
          </a:p>
          <a:p>
            <a:r>
              <a:rPr lang="en-US" dirty="0"/>
              <a:t>Step 2: Add Gaussian noise to simulate sensor readings</a:t>
            </a:r>
          </a:p>
          <a:p>
            <a:r>
              <a:rPr lang="en-US" dirty="0"/>
              <a:t>Step 3: Compute dh/dt using diff() and apply </a:t>
            </a:r>
            <a:r>
              <a:rPr lang="en-US" dirty="0" err="1"/>
              <a:t>movmean</a:t>
            </a:r>
            <a:r>
              <a:rPr lang="en-US" dirty="0"/>
              <a:t>() smoothing</a:t>
            </a:r>
          </a:p>
          <a:p>
            <a:r>
              <a:rPr lang="en-US" dirty="0"/>
              <a:t>Step 4: Loop over each time step, apply threshold rules to assign phase label (0-4)</a:t>
            </a:r>
          </a:p>
          <a:p>
            <a:r>
              <a:rPr lang="en-US" dirty="0"/>
              <a:t>Step 5: Compute flight metrics using logical indexing:</a:t>
            </a:r>
          </a:p>
          <a:p>
            <a:pPr lvl="1"/>
            <a:r>
              <a:rPr lang="en-US" dirty="0"/>
              <a:t>max(</a:t>
            </a:r>
            <a:r>
              <a:rPr lang="en-US" dirty="0" err="1"/>
              <a:t>dalt_sm</a:t>
            </a:r>
            <a:r>
              <a:rPr lang="en-US" dirty="0"/>
              <a:t>(</a:t>
            </a:r>
            <a:r>
              <a:rPr lang="en-US" dirty="0" err="1"/>
              <a:t>climb_idx</a:t>
            </a:r>
            <a:r>
              <a:rPr lang="en-US" dirty="0"/>
              <a:t>)) * 60 for max climb rate</a:t>
            </a:r>
          </a:p>
          <a:p>
            <a:pPr lvl="1"/>
            <a:r>
              <a:rPr lang="en-US" dirty="0"/>
              <a:t>mean(</a:t>
            </a:r>
            <a:r>
              <a:rPr lang="en-US" dirty="0" err="1"/>
              <a:t>spd</a:t>
            </a:r>
            <a:r>
              <a:rPr lang="en-US" dirty="0"/>
              <a:t>(</a:t>
            </a:r>
            <a:r>
              <a:rPr lang="en-US" dirty="0" err="1"/>
              <a:t>cruise_idx</a:t>
            </a:r>
            <a:r>
              <a:rPr lang="en-US" dirty="0"/>
              <a:t>)) for average cruise speed</a:t>
            </a:r>
          </a:p>
          <a:p>
            <a:pPr lvl="1"/>
            <a:r>
              <a:rPr lang="en-US" dirty="0"/>
              <a:t>sum(</a:t>
            </a:r>
            <a:r>
              <a:rPr lang="en-US" dirty="0" err="1"/>
              <a:t>desc_idx</a:t>
            </a:r>
            <a:r>
              <a:rPr lang="en-US" dirty="0"/>
              <a:t>) * dt / 60 for descent duration</a:t>
            </a:r>
          </a:p>
          <a:p>
            <a:r>
              <a:rPr lang="en-US" dirty="0"/>
              <a:t>Step 6: Generate four plots using MATLAB figure() and scatter()/plot()/histogram()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MATLAB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Phase detection loop (core logic):</a:t>
            </a:r>
          </a:p>
          <a:p>
            <a:pPr lvl="1"/>
            <a:r>
              <a:rPr lang="en-US"/>
              <a:t>for i = 1:length(t)</a:t>
            </a:r>
          </a:p>
          <a:p>
            <a:pPr lvl="1"/>
            <a:r>
              <a:rPr lang="en-US"/>
              <a:t>  if alt(i) &lt; ALT_LANDED &amp;&amp; spd(i) &lt; SPD_TAKEOFF  =&gt;  phase = 0 (Ground)</a:t>
            </a:r>
          </a:p>
          <a:p>
            <a:pPr lvl="1"/>
            <a:r>
              <a:rPr lang="en-US"/>
              <a:t>  elseif alt(i) &gt;= ALT_CRUISE &amp;&amp; dalt_sm(i) &gt;= DALT_DESC  =&gt;  phase = 3 (Cruise)</a:t>
            </a:r>
          </a:p>
          <a:p>
            <a:pPr lvl="1"/>
            <a:r>
              <a:rPr lang="en-US"/>
              <a:t>  elseif dalt_sm(i) &gt; DALT_CLIMB  =&gt;  phase = 2 (Climb)</a:t>
            </a:r>
          </a:p>
          <a:p>
            <a:pPr lvl="1"/>
            <a:r>
              <a:rPr lang="en-US"/>
              <a:t>  else  =&gt;  phase = 4 (Descent)</a:t>
            </a:r>
          </a:p>
          <a:p>
            <a:r>
              <a:rPr lang="en-US"/>
              <a:t>Metric extraction uses logical indexing:</a:t>
            </a:r>
          </a:p>
          <a:p>
            <a:pPr lvl="1"/>
            <a:r>
              <a:rPr lang="en-US"/>
              <a:t>avg_cruise_spd = mean(spd(cruise_idx));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Results (Plots)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plots generated (on following slides):</a:t>
            </a:r>
          </a:p>
          <a:p>
            <a:r>
              <a:rPr lang="en-US" dirty="0"/>
              <a:t>All axes labeled with units; legends identify each flight phase by color</a:t>
            </a:r>
          </a:p>
          <a:p>
            <a:r>
              <a:rPr lang="en-US" dirty="0"/>
              <a:t>Cruise threshold line (30,000 ft) overlaid on altitude plot for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F315A-4D76-533F-E6A5-C5976860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1: Altitude vs. Time (phase-colored scatter) -- shows climb, cruise plateau, descent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F41E5-E3DE-4B69-585C-C5619E718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17" y="1728788"/>
            <a:ext cx="969496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8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1A13-E612-2E1F-951A-5E0B116A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2: Speed vs. Time (phase-colored scatter) -- acceleration, cruise band ~490 kts, </a:t>
            </a:r>
            <a:r>
              <a:rPr lang="en-US" dirty="0" err="1"/>
              <a:t>decel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378EE-5920-70A8-5945-2C7B538A8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429" y="1728788"/>
            <a:ext cx="9719142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5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2DE2-5CAF-696D-6E58-5CF55FD3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3: Combined dual-axis -- altitude (blue, left axis) vs. speed (red, right axis)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50AC07-6EC2-935F-BF52-20BCCA122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262" y="1728788"/>
            <a:ext cx="935147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4BCBD-B016-E488-5BD8-BF1479F1E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4: Speed histogram by phase -- cruise distribution is tight; takeoff/descent are spread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83B7F2-570D-9890-DD06-8DF2FF730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519" y="1728788"/>
            <a:ext cx="8718961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2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853" y="1524964"/>
            <a:ext cx="10515600" cy="4349749"/>
          </a:xfrm>
        </p:spPr>
        <p:txBody>
          <a:bodyPr/>
          <a:lstStyle/>
          <a:p>
            <a:r>
              <a:rPr lang="en-US" dirty="0"/>
              <a:t>Speed plot:</a:t>
            </a:r>
          </a:p>
          <a:p>
            <a:pPr lvl="1"/>
            <a:r>
              <a:rPr lang="en-US" dirty="0"/>
              <a:t>Takeoff acceleration from 0 to 160 kts in 2 min, cruise stabilizes near 490 kts</a:t>
            </a:r>
          </a:p>
          <a:p>
            <a:pPr lvl="1"/>
            <a:r>
              <a:rPr lang="en-US" dirty="0"/>
              <a:t>Cruise speed band is narrow (+/- 5 kts), confirming autopilot-like stability</a:t>
            </a:r>
          </a:p>
          <a:p>
            <a:pPr lvl="1"/>
            <a:r>
              <a:rPr lang="en-US" dirty="0"/>
              <a:t>Speed histogram confirms bimodal distribution: low-speed phases vs. high-speed cruise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A5DA-5F57-4A32-03B5-3503B56C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F08D-36AF-A868-44D1-0EACE21A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68B9-AB5B-22FE-3C1B-8797517F8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53" y="1524964"/>
            <a:ext cx="10515600" cy="4349749"/>
          </a:xfrm>
        </p:spPr>
        <p:txBody>
          <a:bodyPr/>
          <a:lstStyle/>
          <a:p>
            <a:r>
              <a:rPr lang="en-US" dirty="0"/>
              <a:t>Altitude plot:</a:t>
            </a:r>
          </a:p>
          <a:p>
            <a:pPr lvl="1"/>
            <a:r>
              <a:rPr lang="en-US" dirty="0"/>
              <a:t>Sharp linear climb to ~38,000 ft in first 10 minutes matches real jet climb profile</a:t>
            </a:r>
          </a:p>
          <a:p>
            <a:pPr lvl="1"/>
            <a:r>
              <a:rPr lang="en-US" dirty="0"/>
              <a:t>Cruise plateau shows gentle sinusoidal oscillation from air density variation noise</a:t>
            </a:r>
          </a:p>
          <a:p>
            <a:pPr lvl="1"/>
            <a:r>
              <a:rPr lang="en-US" dirty="0"/>
              <a:t>Descent is smooth and gradual over ~7.5 minutes as expected for commercial approach</a:t>
            </a:r>
          </a:p>
        </p:txBody>
      </p:sp>
    </p:spTree>
    <p:extLst>
      <p:ext uri="{BB962C8B-B14F-4D97-AF65-F5344CB8AC3E}">
        <p14:creationId xmlns:p14="http://schemas.microsoft.com/office/powerpoint/2010/main" val="4267079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0E7C-973A-686C-79DF-64C1959E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AC2A-63C2-A6C5-96C3-824097EE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Parameter Sensitivity /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35636-E6E2-63FC-C55B-7AD863BAA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Cruise threshold (ALT_CRUISE):</a:t>
            </a:r>
          </a:p>
          <a:p>
            <a:pPr lvl="1"/>
            <a:r>
              <a:rPr lang="en-US" dirty="0"/>
              <a:t>Raising from 30,000 ft to 35,000 ft reclassifies part of climb as cruise, reducing climb metrics</a:t>
            </a:r>
          </a:p>
          <a:p>
            <a:r>
              <a:rPr lang="en-US" dirty="0"/>
              <a:t>Climb rate threshold (DALT_CLIMB):</a:t>
            </a:r>
          </a:p>
          <a:p>
            <a:pPr lvl="1"/>
            <a:r>
              <a:rPr lang="en-US" dirty="0"/>
              <a:t>Increasing from 5 to 15 ft/s makes phase detection stricter; short level-offs become descent</a:t>
            </a:r>
          </a:p>
        </p:txBody>
      </p:sp>
    </p:spTree>
    <p:extLst>
      <p:ext uri="{BB962C8B-B14F-4D97-AF65-F5344CB8AC3E}">
        <p14:creationId xmlns:p14="http://schemas.microsoft.com/office/powerpoint/2010/main" val="363528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Parameter Sensitivity /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Noise level:</a:t>
            </a:r>
          </a:p>
          <a:p>
            <a:pPr lvl="1"/>
            <a:r>
              <a:rPr lang="en-US" dirty="0"/>
              <a:t>Doubling noise std dev (160 ft instead of 80 ft) causes phase flickering at boundaries</a:t>
            </a:r>
          </a:p>
          <a:p>
            <a:r>
              <a:rPr lang="en-US" dirty="0"/>
              <a:t>Moving average window (currently 30 s):</a:t>
            </a:r>
          </a:p>
          <a:p>
            <a:pPr lvl="1"/>
            <a:r>
              <a:rPr lang="en-US" dirty="0"/>
              <a:t>Reducing to 5 s allows noise spikes through; increasing to 60 s smooths too aggressively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Synthetic data does not capture all real-world flight dynamics:</a:t>
            </a:r>
          </a:p>
          <a:p>
            <a:pPr lvl="1"/>
            <a:r>
              <a:rPr lang="en-US"/>
              <a:t>No wind gusts, turbulence, or ATC-mandated altitude holds</a:t>
            </a:r>
          </a:p>
          <a:p>
            <a:pPr lvl="1"/>
            <a:r>
              <a:rPr lang="en-US"/>
              <a:t>Speed and altitude modeled independently; no aerodynamic coupling</a:t>
            </a:r>
          </a:p>
          <a:p>
            <a:pPr lvl="1"/>
            <a:r>
              <a:rPr lang="en-US"/>
              <a:t>Single-segment flight -- no multi-leg routes or holding patterns</a:t>
            </a:r>
          </a:p>
          <a:p>
            <a:r>
              <a:rPr lang="en-US"/>
              <a:t>Threshold-based phase detection is brittle:</a:t>
            </a:r>
          </a:p>
          <a:p>
            <a:pPr lvl="1"/>
            <a:r>
              <a:rPr lang="en-US"/>
              <a:t>Hard cutoffs can misclassify gradual transitions between phases</a:t>
            </a:r>
          </a:p>
          <a:p>
            <a:pPr lvl="1"/>
            <a:r>
              <a:rPr lang="en-US"/>
              <a:t>More robust approach: Hidden Markov Models or ML-based classifiers</a:t>
            </a:r>
          </a:p>
          <a:p>
            <a:r>
              <a:rPr lang="en-US"/>
              <a:t>Constant time step (1 s) assumed; real flight recorders may have variable rates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Engineering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Flight data monitoring (FDM) is mandatory for commercial airlines under FAA/EASA rules</a:t>
            </a:r>
          </a:p>
          <a:p>
            <a:r>
              <a:rPr lang="en-US"/>
              <a:t>Phase-based analysis feeds into:</a:t>
            </a:r>
          </a:p>
          <a:p>
            <a:pPr lvl="1"/>
            <a:r>
              <a:rPr lang="en-US"/>
              <a:t>Fuel burn optimization (minimize time in climb, maximize cruise efficiency)</a:t>
            </a:r>
          </a:p>
          <a:p>
            <a:pPr lvl="1"/>
            <a:r>
              <a:rPr lang="en-US"/>
              <a:t>Maintenance scheduling (climb and descent cycles drive airframe fatigue)</a:t>
            </a:r>
          </a:p>
          <a:p>
            <a:pPr lvl="1"/>
            <a:r>
              <a:rPr lang="en-US"/>
              <a:t>Safety incident reconstruction (NTSB uses phase-tagged data in investigations)</a:t>
            </a:r>
          </a:p>
          <a:p>
            <a:r>
              <a:rPr lang="en-US"/>
              <a:t>Aerospace engineers use similar algorithms in Flight Management Systems (FMS)</a:t>
            </a:r>
          </a:p>
          <a:p>
            <a:r>
              <a:rPr lang="en-US"/>
              <a:t>This project demonstrates core data-driven engineering workflow:</a:t>
            </a:r>
          </a:p>
          <a:p>
            <a:pPr lvl="1"/>
            <a:r>
              <a:rPr lang="en-US"/>
              <a:t>Acquire data  =&gt;  Model  =&gt;  Classify  =&gt;  Compute metrics  =&gt;  Visualize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Avi Cooperman:</a:t>
            </a:r>
          </a:p>
          <a:p>
            <a:pPr lvl="1"/>
            <a:r>
              <a:rPr lang="en-US" dirty="0"/>
              <a:t>Mathematical model design and phase threshold definition</a:t>
            </a:r>
          </a:p>
          <a:p>
            <a:pPr lvl="1"/>
            <a:r>
              <a:rPr lang="en-US" dirty="0"/>
              <a:t>MATLAB algorithm development and loop logic</a:t>
            </a:r>
          </a:p>
          <a:p>
            <a:r>
              <a:rPr lang="en-US" dirty="0"/>
              <a:t>Jack O'charek:</a:t>
            </a:r>
          </a:p>
          <a:p>
            <a:pPr lvl="1"/>
            <a:r>
              <a:rPr lang="en-US" dirty="0"/>
              <a:t>Synthetic data generation and noise modeling</a:t>
            </a:r>
          </a:p>
          <a:p>
            <a:pPr lvl="1"/>
            <a:r>
              <a:rPr lang="en-US" dirty="0"/>
              <a:t>Visualization design (all four plots) and metric computation</a:t>
            </a:r>
          </a:p>
          <a:p>
            <a:r>
              <a:rPr lang="en-US" dirty="0"/>
              <a:t>Joint:</a:t>
            </a:r>
          </a:p>
          <a:p>
            <a:pPr lvl="1"/>
            <a:r>
              <a:rPr lang="en-US" dirty="0"/>
              <a:t>Results analysis, parameter sensitivity exploration, and presentation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built a MATLAB flight profile analyzer that:</a:t>
            </a:r>
          </a:p>
          <a:p>
            <a:pPr lvl="1"/>
            <a:r>
              <a:rPr lang="en-US"/>
              <a:t>Generates realistic altitude and speed time-series data for a 2-hour flight</a:t>
            </a:r>
          </a:p>
          <a:p>
            <a:pPr lvl="1"/>
            <a:r>
              <a:rPr lang="en-US"/>
              <a:t>Automatically classifies each second into one of five flight phases</a:t>
            </a:r>
          </a:p>
          <a:p>
            <a:pPr lvl="1"/>
            <a:r>
              <a:rPr lang="en-US"/>
              <a:t>Computes max climb rate (~700 ft/min), average cruise speed (~490 kts), descent duration (~7.5 min)</a:t>
            </a:r>
          </a:p>
          <a:p>
            <a:pPr lvl="1"/>
            <a:r>
              <a:rPr lang="en-US"/>
              <a:t>Produces four labeled, phase-colored visualizations</a:t>
            </a:r>
          </a:p>
          <a:p>
            <a:r>
              <a:rPr lang="en-US"/>
              <a:t>Key takeaways:</a:t>
            </a:r>
          </a:p>
          <a:p>
            <a:pPr lvl="1"/>
            <a:r>
              <a:rPr lang="en-US"/>
              <a:t>Threshold logic is simple yet powerful for structured time-series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Hart-Main-Theme[2025]">
  <a:themeElements>
    <a:clrScheme name="UHart - Use thi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4350"/>
      </a:accent1>
      <a:accent2>
        <a:srgbClr val="C5BFB6"/>
      </a:accent2>
      <a:accent3>
        <a:srgbClr val="EEE8DD"/>
      </a:accent3>
      <a:accent4>
        <a:srgbClr val="D3292A"/>
      </a:accent4>
      <a:accent5>
        <a:srgbClr val="1C496F"/>
      </a:accent5>
      <a:accent6>
        <a:srgbClr val="6E2E4B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Hart-Main-Theme[2025]" id="{665E005B-4C3F-4AFB-915C-F0787D9D3305}" vid="{B773D1CF-205F-474F-AFAA-4154EEA00C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UHart-Main-Theme[2025]</Template>
  <TotalTime>0</TotalTime>
  <Words>1158</Words>
  <Application>Microsoft Macintosh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System Font Regular</vt:lpstr>
      <vt:lpstr>UHart-Main-Theme[2025]</vt:lpstr>
      <vt:lpstr>Aerospace Altitude &amp; Speed Profile Analyzer</vt:lpstr>
      <vt:lpstr>Problem Overview / System Description</vt:lpstr>
      <vt:lpstr>Engineering Objective</vt:lpstr>
      <vt:lpstr>Mathematical Model</vt:lpstr>
      <vt:lpstr>Algorithm / System Logic</vt:lpstr>
      <vt:lpstr>MATLAB Implementation</vt:lpstr>
      <vt:lpstr>Simulation Results (Plots)</vt:lpstr>
      <vt:lpstr>Plot 1: Altitude vs. Time (phase-colored scatter) -- shows climb, cruise plateau, descent</vt:lpstr>
      <vt:lpstr>Plot 2: Speed vs. Time (phase-colored scatter) -- acceleration, cruise band ~490 kts, decel</vt:lpstr>
      <vt:lpstr>Plot 3: Combined dual-axis -- altitude (blue, left axis) vs. speed (red, right axis)</vt:lpstr>
      <vt:lpstr>Plot 4: Speed histogram by phase -- cruise distribution is tight; takeoff/descent are spread</vt:lpstr>
      <vt:lpstr>Analysis of Results</vt:lpstr>
      <vt:lpstr>Analysis of Results</vt:lpstr>
      <vt:lpstr>Parameter Sensitivity / Exploration</vt:lpstr>
      <vt:lpstr>Parameter Sensitivity / Exploration</vt:lpstr>
      <vt:lpstr>Model Limitations</vt:lpstr>
      <vt:lpstr>Engineering Relevance</vt:lpstr>
      <vt:lpstr>Team Contributions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Keshawn</dc:creator>
  <cp:lastModifiedBy>Avi Cooperman</cp:lastModifiedBy>
  <cp:revision>2</cp:revision>
  <dcterms:created xsi:type="dcterms:W3CDTF">2026-04-14T17:52:07Z</dcterms:created>
  <dcterms:modified xsi:type="dcterms:W3CDTF">2026-04-27T14:58:36Z</dcterms:modified>
</cp:coreProperties>
</file>